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f26bcc-f1bf-ecec-5732-8aebd7e9c0d9}">
          <p14:sldIdLst>
            <p14:sldId id="256"/>
          </p14:sldIdLst>
        </p14:section>
        <p14:section name="Problem &amp; Solution" id="{6e00712d-15bb-8f61-5608-9a062c12e2c4}">
          <p14:sldIdLst>
            <p14:sldId id="257"/>
            <p14:sldId id="258"/>
            <p14:sldId id="259"/>
          </p14:sldIdLst>
        </p14:section>
        <p14:section name="Product" id="{f2cd6c5d-0155-a464-674f-0f13c58218e7}">
          <p14:sldIdLst>
            <p14:sldId id="260"/>
            <p14:sldId id="261"/>
            <p14:sldId id="262"/>
          </p14:sldIdLst>
        </p14:section>
        <p14:section name="Technology" id="{f53c5d31-deee-8d94-3321-7ab9b323d251}">
          <p14:sldIdLst>
            <p14:sldId id="263"/>
            <p14:sldId id="264"/>
          </p14:sldIdLst>
        </p14:section>
        <p14:section name="Impact" id="{8af516fb-ff29-8861-6da2-2582b6fe554e}">
          <p14:sldIdLst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A6F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CloudCare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CLOUD COMPUTING  •  HEALTHCARE  •  DIGITAL TRANSFORMATION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CloudCare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23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Cloud-Based Hospital Management System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Case Study &amp; Prototype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One secure platform for patients, doctors and administrators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problem: records that are hard to reach</a:t>
            </a:r>
            <a:endParaRPr lang="en-US" sz="2800" dirty="0"/>
          </a:p>
        </p:txBody>
      </p:sp>
      <p:sp>
        <p:nvSpPr>
          <p:cNvPr id="3" name="card1"/>
          <p:cNvSpPr/>
          <p:nvPr/>
        </p:nvSpPr>
        <p:spPr>
          <a:xfrm>
            <a:off x="457200" y="118872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15544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Scattered Records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459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Information spread across paper files and separate systems.</a:t>
            </a:r>
            <a:endParaRPr lang="en-US" sz="1200" dirty="0"/>
          </a:p>
        </p:txBody>
      </p:sp>
      <p:sp>
        <p:nvSpPr>
          <p:cNvPr id="7" name="card2"/>
          <p:cNvSpPr/>
          <p:nvPr/>
        </p:nvSpPr>
        <p:spPr>
          <a:xfrm>
            <a:off x="3246120" y="118872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64008" cy="15544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Slow Access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6459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Staff lose time searching for past reports and history.</a:t>
            </a:r>
            <a:endParaRPr lang="en-US" sz="1200" dirty="0"/>
          </a:p>
        </p:txBody>
      </p:sp>
      <p:sp>
        <p:nvSpPr>
          <p:cNvPr id="11" name="card3"/>
          <p:cNvSpPr/>
          <p:nvPr/>
        </p:nvSpPr>
        <p:spPr>
          <a:xfrm>
            <a:off x="6035040" y="118872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15544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6208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 Loss Risk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16459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Paper records can be damaged, lost or destroyed.</a:t>
            </a:r>
            <a:endParaRPr lang="en-US" sz="1200" dirty="0"/>
          </a:p>
        </p:txBody>
      </p:sp>
      <p:sp>
        <p:nvSpPr>
          <p:cNvPr id="15" name="card4"/>
          <p:cNvSpPr/>
          <p:nvPr/>
        </p:nvSpPr>
        <p:spPr>
          <a:xfrm>
            <a:off x="457200" y="292608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64008" cy="15544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Poor Coordination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3383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single, updated view of the patient across departments.</a:t>
            </a:r>
            <a:endParaRPr lang="en-US" sz="1200" dirty="0"/>
          </a:p>
        </p:txBody>
      </p:sp>
      <p:sp>
        <p:nvSpPr>
          <p:cNvPr id="19" name="card5"/>
          <p:cNvSpPr/>
          <p:nvPr/>
        </p:nvSpPr>
        <p:spPr>
          <a:xfrm>
            <a:off x="3246120" y="292608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2926080"/>
            <a:ext cx="64008" cy="15544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47288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Storage Burden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447288" y="3383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Physical records need space and ongoing upkeep.</a:t>
            </a:r>
            <a:endParaRPr lang="en-US" sz="1200" dirty="0"/>
          </a:p>
        </p:txBody>
      </p:sp>
      <p:sp>
        <p:nvSpPr>
          <p:cNvPr id="23" name="card6"/>
          <p:cNvSpPr/>
          <p:nvPr/>
        </p:nvSpPr>
        <p:spPr>
          <a:xfrm>
            <a:off x="6035040" y="292608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2926080"/>
            <a:ext cx="64008" cy="15544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36208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Limited Access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236208" y="3383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Local systems restrict access outside the hospital network.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solution: one centralized cloud platform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CloudCare stores patient records, appointments, prescriptions and lab reports in a cloud database, and serves each user through a role-based dashboard.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1965960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331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Centralized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8346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One source of truth for every department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2194560"/>
            <a:ext cx="1965960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2331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Role-based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8346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Patients, doctors and admins see what they should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94560"/>
            <a:ext cx="1965960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331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Scalable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8346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Grows with patients and services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2194560"/>
            <a:ext cx="1965960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2331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Available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8346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Backup, recovery and anywhere access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Cloud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21945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188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PATIENT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Mobile / Web App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011680" y="205740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566160" y="1188720"/>
            <a:ext cx="21945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188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DOCTOR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Doctor Dashboard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205740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217920" y="1188720"/>
            <a:ext cx="21945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188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ADMIN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Admin Dashboard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0" y="205740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2468880"/>
            <a:ext cx="731520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4688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CLOUD APPLICATION SERVER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Authentication  •  APIs  •  Hospital Services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0" y="3337560"/>
            <a:ext cx="0" cy="3200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" y="3657600"/>
            <a:ext cx="731520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6576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CLOUD DATABASE &amp; STORAGE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Patients  •  Appointments  •  Records  •  Reports  •  Prescriptions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Three users, three dashboards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PATIENT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51760" cy="2834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Register / Login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Book appointments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View medical records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View lab reports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View prescriptions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Track appointments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5029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188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DOCTOR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1691640"/>
            <a:ext cx="2651760" cy="2834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82880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View appointments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Access authorized records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diagnosis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Upload reports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Create prescriptions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Schedule follow-ups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5029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1188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ADMIN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651760" cy="2834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82880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Manage patients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Manage doctors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Manage departments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Manage appointments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Monitor system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View statistics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Prototype: patient &amp; doctor dashboards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291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977640" cy="3657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CLOUDCARE • PATIENT DASHBOARD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Welcome, Arun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73736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Appointments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2103120"/>
            <a:ext cx="173736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888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Medical Records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173736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Prescriptions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2743200"/>
            <a:ext cx="173736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68880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Lab Reports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56616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429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+ BOOK APPOINTMENT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886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Upcoming: Dr. Priya • Cardiology • 15 Oct 2026 • 10:30 AM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188720"/>
            <a:ext cx="3977640" cy="3291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188720"/>
            <a:ext cx="3977640" cy="3657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1188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CLOUDCARE • DOCTOR DASHBOARD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Today's Appointments: 12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2103120"/>
          <a:ext cx="36118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2344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Patient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Arun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10:30 AM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Waiting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Rahul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11:00 AM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Confirmed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Anu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11:30 AM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Confirmed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892040" y="3520440"/>
            <a:ext cx="109728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92040" y="3520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View Patient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80760" y="3520440"/>
            <a:ext cx="1188720" cy="347472"/>
          </a:xfrm>
          <a:prstGeom prst="roundRect">
            <a:avLst>
              <a:gd name="adj" fmla="val 1578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80760" y="3520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Add Diagnosis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360920" y="3520440"/>
            <a:ext cx="1143000" cy="347472"/>
          </a:xfrm>
          <a:prstGeom prst="roundRect">
            <a:avLst>
              <a:gd name="adj" fmla="val 1578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60920" y="35204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Prescribe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892040" y="4023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Synchronized with the cloud database.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Prototype: medical record &amp; admin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291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977640" cy="3657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PATIENT RECORD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Arun Kumar  •  ID P1025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Medical History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Gastritis – 15/08/2026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Lab Reports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Blood Test  •  CBC  •  X-Ray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Prescription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Medicine A: 1 tablet × 2/day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Medicine B: 1 tablet × 1/day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361188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0233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ADD NEW RECORD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977640" cy="3291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88720"/>
            <a:ext cx="3977640" cy="3657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188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CLOUDCARE • ADMIN DASHBOARD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1691640"/>
            <a:ext cx="173736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1,245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PATIENTS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720840" y="1691640"/>
            <a:ext cx="173736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084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86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DOCTORS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892040" y="2743200"/>
            <a:ext cx="173736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2743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143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APPOINTMENTS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720840" y="2743200"/>
            <a:ext cx="173736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20840" y="2743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12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DEPARTMENTS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8404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Manage patients • doctors • appointments • departments • monitor activity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Cloud database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CLOUD DATABASE</a:t>
            </a:r>
            <a:endParaRPr lang="en-US" sz="1400" dirty="0"/>
          </a:p>
        </p:txBody>
      </p:sp>
      <p:sp>
        <p:nvSpPr>
          <p:cNvPr id="5" name="card7"/>
          <p:cNvSpPr/>
          <p:nvPr/>
        </p:nvSpPr>
        <p:spPr>
          <a:xfrm>
            <a:off x="457200" y="1783080"/>
            <a:ext cx="26517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64008" cy="1234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Patients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240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ID • Name • Age • Contact</a:t>
            </a:r>
            <a:endParaRPr lang="en-US" sz="1200" dirty="0"/>
          </a:p>
        </p:txBody>
      </p:sp>
      <p:sp>
        <p:nvSpPr>
          <p:cNvPr id="9" name="card8"/>
          <p:cNvSpPr/>
          <p:nvPr/>
        </p:nvSpPr>
        <p:spPr>
          <a:xfrm>
            <a:off x="457200" y="3154680"/>
            <a:ext cx="26517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154680"/>
            <a:ext cx="64008" cy="1234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Doctors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3611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ID • Department • Availability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188720"/>
            <a:ext cx="2651760" cy="4572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4612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HOSPITAL DATA</a:t>
            </a:r>
            <a:endParaRPr lang="en-US" sz="1400" dirty="0"/>
          </a:p>
        </p:txBody>
      </p:sp>
      <p:sp>
        <p:nvSpPr>
          <p:cNvPr id="15" name="card9"/>
          <p:cNvSpPr/>
          <p:nvPr/>
        </p:nvSpPr>
        <p:spPr>
          <a:xfrm>
            <a:off x="3246120" y="1783080"/>
            <a:ext cx="26517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783080"/>
            <a:ext cx="64008" cy="1234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47288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Appointments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447288" y="2240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Patient ID • Doctor ID • Date/Time</a:t>
            </a:r>
            <a:endParaRPr lang="en-US" sz="1200" dirty="0"/>
          </a:p>
        </p:txBody>
      </p:sp>
      <p:sp>
        <p:nvSpPr>
          <p:cNvPr id="19" name="card10"/>
          <p:cNvSpPr/>
          <p:nvPr/>
        </p:nvSpPr>
        <p:spPr>
          <a:xfrm>
            <a:off x="3246120" y="3154680"/>
            <a:ext cx="26517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3154680"/>
            <a:ext cx="64008" cy="1234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47288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Medical Records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447288" y="3611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Diagnosis • Treatment • History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1188720"/>
            <a:ext cx="2651760" cy="4572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3504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FILE STORAGE</a:t>
            </a:r>
            <a:endParaRPr lang="en-US" sz="1400" dirty="0"/>
          </a:p>
        </p:txBody>
      </p:sp>
      <p:sp>
        <p:nvSpPr>
          <p:cNvPr id="25" name="card11"/>
          <p:cNvSpPr/>
          <p:nvPr/>
        </p:nvSpPr>
        <p:spPr>
          <a:xfrm>
            <a:off x="6035040" y="1783080"/>
            <a:ext cx="26517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1783080"/>
            <a:ext cx="64008" cy="12344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6208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Lab Reports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236208" y="2240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Type • File • Date</a:t>
            </a:r>
            <a:endParaRPr lang="en-US" sz="1200" dirty="0"/>
          </a:p>
        </p:txBody>
      </p:sp>
      <p:sp>
        <p:nvSpPr>
          <p:cNvPr id="29" name="card12"/>
          <p:cNvSpPr/>
          <p:nvPr/>
        </p:nvSpPr>
        <p:spPr>
          <a:xfrm>
            <a:off x="6035040" y="3154680"/>
            <a:ext cx="26517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3154680"/>
            <a:ext cx="64008" cy="12344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36208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Prescriptions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36208" y="3611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Medicine • Dosage • Instructions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Cloud technologies &amp; prototype stack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Cloud Hosting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– runs the app and backend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Cloud Database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– structured patient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Cloud Storage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– documents and lab reports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Authentication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– secure login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APIs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– connect app to services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Backup &amp; Recovery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– protects against failures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Scalability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– more resources as demand grows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88720"/>
          <a:ext cx="3840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Frontend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HTML • CSS • JavaScript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Cloud Backend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Firebase / Cloud Functions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Database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Firebase Firestore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Authentication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Firebase Authentication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File 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Firebase 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Deployment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Cloud Hosting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End-to-end cloud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3898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Patient logs 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19202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70048" y="13898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70048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874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Patient books an appointment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19202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73168" y="13898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73168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874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Appointment stored in cloud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1280160"/>
            <a:ext cx="19202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76288" y="13898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76288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874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Doctor sees the appointment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19202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03580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520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Doctor opens authorized record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60320" y="2926080"/>
            <a:ext cx="19202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70048" y="303580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70048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697480" y="3520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Doctor adds diagnosis / prescription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2926080"/>
            <a:ext cx="19202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73168" y="303580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73168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3520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Updated record saved to cloud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766560" y="2926080"/>
            <a:ext cx="192024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6288" y="303580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76288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3520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Patient views updated information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Benefits of going cloud</a:t>
            </a:r>
            <a:endParaRPr lang="en-US" sz="2800" dirty="0"/>
          </a:p>
        </p:txBody>
      </p:sp>
      <p:sp>
        <p:nvSpPr>
          <p:cNvPr id="3" name="card13"/>
          <p:cNvSpPr/>
          <p:nvPr/>
        </p:nvSpPr>
        <p:spPr>
          <a:xfrm>
            <a:off x="457200" y="118872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1554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Faster Access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6459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Quick retrieval of authorized patient information.</a:t>
            </a:r>
            <a:endParaRPr lang="en-US" sz="1200" dirty="0"/>
          </a:p>
        </p:txBody>
      </p:sp>
      <p:sp>
        <p:nvSpPr>
          <p:cNvPr id="7" name="card14"/>
          <p:cNvSpPr/>
          <p:nvPr/>
        </p:nvSpPr>
        <p:spPr>
          <a:xfrm>
            <a:off x="3246120" y="118872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64008" cy="1554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Scalability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6459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Supports growing users and data volumes.</a:t>
            </a:r>
            <a:endParaRPr lang="en-US" sz="1200" dirty="0"/>
          </a:p>
        </p:txBody>
      </p:sp>
      <p:sp>
        <p:nvSpPr>
          <p:cNvPr id="11" name="card15"/>
          <p:cNvSpPr/>
          <p:nvPr/>
        </p:nvSpPr>
        <p:spPr>
          <a:xfrm>
            <a:off x="6035040" y="118872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1554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6208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Backup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16459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Reduces the risk of permanent data loss.</a:t>
            </a:r>
            <a:endParaRPr lang="en-US" sz="1200" dirty="0"/>
          </a:p>
        </p:txBody>
      </p:sp>
      <p:sp>
        <p:nvSpPr>
          <p:cNvPr id="15" name="card16"/>
          <p:cNvSpPr/>
          <p:nvPr/>
        </p:nvSpPr>
        <p:spPr>
          <a:xfrm>
            <a:off x="457200" y="292608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64008" cy="1554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Accessibility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3383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Authorized users reach services from anywhere.</a:t>
            </a:r>
            <a:endParaRPr lang="en-US" sz="1200" dirty="0"/>
          </a:p>
        </p:txBody>
      </p:sp>
      <p:sp>
        <p:nvSpPr>
          <p:cNvPr id="19" name="card17"/>
          <p:cNvSpPr/>
          <p:nvPr/>
        </p:nvSpPr>
        <p:spPr>
          <a:xfrm>
            <a:off x="3246120" y="292608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2926080"/>
            <a:ext cx="64008" cy="1554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47288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Centralization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447288" y="3383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Departments share synchronized information.</a:t>
            </a:r>
            <a:endParaRPr lang="en-US" sz="1200" dirty="0"/>
          </a:p>
        </p:txBody>
      </p:sp>
      <p:sp>
        <p:nvSpPr>
          <p:cNvPr id="23" name="card18"/>
          <p:cNvSpPr/>
          <p:nvPr/>
        </p:nvSpPr>
        <p:spPr>
          <a:xfrm>
            <a:off x="6035040" y="2926080"/>
            <a:ext cx="2651760" cy="1554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2926080"/>
            <a:ext cx="64008" cy="1554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36208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Efficiency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236208" y="3383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Less paperwork and physical storage.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Challenges &amp; security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6"/>
                </a:solidFill>
              </a:rPr>
              <a:t>Privacy first: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Patient data is highly sensitive and needs strong privacy controls.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6"/>
                </a:solidFill>
              </a:rPr>
              <a:t>Access control: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Authentication and role-based access must stop unauthorized users.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6"/>
                </a:solidFill>
              </a:rPr>
              <a:t>Encryption: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Encrypt data in transit and at rest where appropriate.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6"/>
                </a:solidFill>
              </a:rPr>
              <a:t>Connectivity: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Reliable internet is important for cloud access.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6"/>
                </a:solidFill>
              </a:rPr>
              <a:t>Compliance: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Real deployments must follow healthcare and data-protection rules.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Applies cloud computing to a real healthcare management problem.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Centralized storage makes hospital information easier to manage and access.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Patient, doctor and admin workflows are connected through cloud services.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With proper security and privacy controls, cloud technology enables more efficient digital healthcare.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Thank you  •  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Care">
  <a:themeElements>
    <a:clrScheme name="CloudCare">
      <a:dk1>
        <a:srgbClr val="12302F"/>
      </a:dk1>
      <a:lt1>
        <a:srgbClr val="FFFFFF"/>
      </a:lt1>
      <a:dk2>
        <a:srgbClr val="0A6F66"/>
      </a:dk2>
      <a:lt2>
        <a:srgbClr val="E3F5F2"/>
      </a:lt2>
      <a:accent1>
        <a:srgbClr val="0F9D8F"/>
      </a:accent1>
      <a:accent2>
        <a:srgbClr val="2CC9B8"/>
      </a:accent2>
      <a:accent3>
        <a:srgbClr val="F2A93B"/>
      </a:accent3>
      <a:accent4>
        <a:srgbClr val="4F8FD9"/>
      </a:accent4>
      <a:accent5>
        <a:srgbClr val="8A6FD6"/>
      </a:accent5>
      <a:accent6>
        <a:srgbClr val="E5604D"/>
      </a:accent6>
      <a:hlink>
        <a:srgbClr val="0F9D8F"/>
      </a:hlink>
      <a:folHlink>
        <a:srgbClr val="0A6F66"/>
      </a:folHlink>
    </a:clrScheme>
    <a:fontScheme name="CloudCar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CloudCare</dc:title>
  <dc:subject>PptxGenJS Presentation</dc:subject>
  <dc:creator>PptxGenJS</dc:creator>
  <cp:lastModifiedBy>PptxGenJS</cp:lastModifiedBy>
  <cp:revision>1</cp:revision>
  <dcterms:created xsi:type="dcterms:W3CDTF">2026-10-09T05:58:23Z</dcterms:created>
  <dcterms:modified xsi:type="dcterms:W3CDTF">2026-10-09T05:58:23Z</dcterms:modified>
</cp:coreProperties>
</file>